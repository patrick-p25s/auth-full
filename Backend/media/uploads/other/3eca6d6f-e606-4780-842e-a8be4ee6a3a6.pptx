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0" r:id="rId3"/>
    <p:sldId id="271" r:id="rId4"/>
    <p:sldId id="279" r:id="rId5"/>
    <p:sldId id="272" r:id="rId6"/>
    <p:sldId id="273" r:id="rId7"/>
    <p:sldId id="280" r:id="rId8"/>
    <p:sldId id="275" r:id="rId9"/>
    <p:sldId id="276" r:id="rId10"/>
    <p:sldId id="269" r:id="rId11"/>
  </p:sldIdLst>
  <p:sldSz cx="10080625" cy="7559675"/>
  <p:notesSz cx="7559675" cy="10691813"/>
  <p:defaultTextStyle>
    <a:defPPr>
      <a:defRPr lang="en-GB"/>
    </a:defPPr>
    <a:lvl1pPr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1pPr>
    <a:lvl2pPr marL="742950" indent="-28575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2pPr>
    <a:lvl3pPr marL="11430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3pPr>
    <a:lvl4pPr marL="16002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4pPr>
    <a:lvl5pPr marL="20574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MS Gothic" pitchFamily="49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5" autoAdjust="0"/>
    <p:restoredTop sz="94660"/>
  </p:normalViewPr>
  <p:slideViewPr>
    <p:cSldViewPr>
      <p:cViewPr varScale="1">
        <p:scale>
          <a:sx n="68" d="100"/>
          <a:sy n="68" d="100"/>
        </p:scale>
        <p:origin x="1056" y="6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6334A-B75C-43C4-8CA0-2DBEE369C65F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smtClean="0"/>
              <a:t>rararaa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4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2A487-2235-41B6-8D02-AC4D699C14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534822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7559675" cy="106918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ea typeface="MS Gothic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1937" cy="4005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5200" cy="48085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ea typeface="MS Gothic" charset="-128"/>
            </a:endParaRP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ea typeface="MS Gothic" charset="-128"/>
            </a:endParaRP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ea typeface="MS Gothic" charset="-128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8187" cy="531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Font typeface="Times New Roman" pitchFamily="16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MS Gothic" charset="-128"/>
              </a:defRPr>
            </a:lvl1pPr>
          </a:lstStyle>
          <a:p>
            <a:pPr>
              <a:defRPr/>
            </a:pPr>
            <a:fld id="{04666EEF-C761-4C1C-AB1C-8B60DC017A4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790361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Times New Roman" pitchFamily="18" charset="0"/>
              <a:buNone/>
            </a:pPr>
            <a:fld id="{D019DFAB-2B75-4705-BE25-A8A3EF0D443A}" type="slidenum">
              <a:rPr lang="fr-FR" smtClean="0">
                <a:latin typeface="Times New Roman" pitchFamily="18" charset="0"/>
                <a:ea typeface="MS Gothic" pitchFamily="49" charset="-128"/>
              </a:rPr>
              <a:pPr>
                <a:buFont typeface="Times New Roman" pitchFamily="18" charset="0"/>
                <a:buNone/>
              </a:pPr>
              <a:t>1</a:t>
            </a:fld>
            <a:endParaRPr lang="fr-FR" smtClean="0">
              <a:latin typeface="Times New Roman" pitchFamily="18" charset="0"/>
              <a:ea typeface="MS Gothic" pitchFamily="49" charset="-128"/>
            </a:endParaRPr>
          </a:p>
        </p:txBody>
      </p:sp>
      <p:sp>
        <p:nvSpPr>
          <p:cNvPr id="22531" name="Text Box 1"/>
          <p:cNvSpPr txBox="1">
            <a:spLocks noChangeArrowheads="1"/>
          </p:cNvSpPr>
          <p:nvPr/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5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C7213C2-EAAA-4A4E-AB9E-5D5F18B51ED3}" type="slidenum">
              <a:rPr lang="fr-FR" sz="1400">
                <a:solidFill>
                  <a:srgbClr val="000000"/>
                </a:solidFill>
                <a:latin typeface="Times New Roman" pitchFamily="18" charset="0"/>
              </a:rPr>
              <a:pPr algn="r">
                <a:lnSpc>
                  <a:spcPct val="95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</a:t>
            </a:fld>
            <a:endParaRPr lang="fr-FR" sz="1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532" name="Text Box 2"/>
          <p:cNvSpPr txBox="1">
            <a:spLocks noChangeArrowheads="1"/>
          </p:cNvSpPr>
          <p:nvPr/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noFill/>
          <a:ln/>
        </p:spPr>
        <p:txBody>
          <a:bodyPr wrap="none" anchor="ctr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260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04666EEF-C761-4C1C-AB1C-8B60DC017A46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74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Times New Roman" pitchFamily="18" charset="0"/>
              <a:buNone/>
            </a:pPr>
            <a:fld id="{6F7CA371-AE71-4874-A7F4-08C776D16C30}" type="slidenum">
              <a:rPr lang="fr-FR" smtClean="0">
                <a:latin typeface="Times New Roman" pitchFamily="18" charset="0"/>
                <a:ea typeface="MS Gothic" pitchFamily="49" charset="-128"/>
              </a:rPr>
              <a:pPr>
                <a:buFont typeface="Times New Roman" pitchFamily="18" charset="0"/>
                <a:buNone/>
              </a:pPr>
              <a:t>10</a:t>
            </a:fld>
            <a:endParaRPr lang="fr-FR" smtClean="0">
              <a:latin typeface="Times New Roman" pitchFamily="18" charset="0"/>
              <a:ea typeface="MS Gothic" pitchFamily="49" charset="-128"/>
            </a:endParaRPr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5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AF4FB6E8-CAC6-4009-B88A-17EA21F1F864}" type="slidenum">
              <a:rPr lang="fr-FR" sz="1400">
                <a:solidFill>
                  <a:srgbClr val="000000"/>
                </a:solidFill>
                <a:latin typeface="Times New Roman" pitchFamily="18" charset="0"/>
              </a:rPr>
              <a:pPr algn="r">
                <a:lnSpc>
                  <a:spcPct val="95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fr-FR" sz="1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noFill/>
          <a:ln/>
        </p:spPr>
        <p:txBody>
          <a:bodyPr wrap="none" anchor="ctr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12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4"/>
            </a:lvl1pPr>
            <a:lvl2pPr marL="378013" indent="0" algn="ctr">
              <a:buNone/>
              <a:defRPr sz="1654"/>
            </a:lvl2pPr>
            <a:lvl3pPr marL="756026" indent="0" algn="ctr">
              <a:buNone/>
              <a:defRPr sz="1488"/>
            </a:lvl3pPr>
            <a:lvl4pPr marL="1134039" indent="0" algn="ctr">
              <a:buNone/>
              <a:defRPr sz="1323"/>
            </a:lvl4pPr>
            <a:lvl5pPr marL="1512052" indent="0" algn="ctr">
              <a:buNone/>
              <a:defRPr sz="1323"/>
            </a:lvl5pPr>
            <a:lvl6pPr marL="1890065" indent="0" algn="ctr">
              <a:buNone/>
              <a:defRPr sz="1323"/>
            </a:lvl6pPr>
            <a:lvl7pPr marL="2268078" indent="0" algn="ctr">
              <a:buNone/>
              <a:defRPr sz="1323"/>
            </a:lvl7pPr>
            <a:lvl8pPr marL="2646091" indent="0" algn="ctr">
              <a:buNone/>
              <a:defRPr sz="1323"/>
            </a:lvl8pPr>
            <a:lvl9pPr marL="3024104" indent="0" algn="ctr">
              <a:buNone/>
              <a:defRPr sz="1323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E2246-5FCA-4BEC-AEA2-28BB3EA946EA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09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0377E6-9395-480D-8716-1A869B862378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777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7793" y="5059034"/>
            <a:ext cx="8694539" cy="1653678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1pPr>
            <a:lvl2pPr marL="378013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026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03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05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06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07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09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10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A2325-9EA0-4400-B29F-05EC17F3CC9A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45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93043" y="2012414"/>
            <a:ext cx="4284266" cy="4796544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03316" y="2012414"/>
            <a:ext cx="4284266" cy="4796544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DB4C61-167E-4154-A095-6EA58C58204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21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94357" y="1853171"/>
            <a:ext cx="4264576" cy="908210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13" indent="0">
              <a:buNone/>
              <a:defRPr sz="1654" b="1"/>
            </a:lvl2pPr>
            <a:lvl3pPr marL="756026" indent="0">
              <a:buNone/>
              <a:defRPr sz="1488" b="1"/>
            </a:lvl3pPr>
            <a:lvl4pPr marL="1134039" indent="0">
              <a:buNone/>
              <a:defRPr sz="1323" b="1"/>
            </a:lvl4pPr>
            <a:lvl5pPr marL="1512052" indent="0">
              <a:buNone/>
              <a:defRPr sz="1323" b="1"/>
            </a:lvl5pPr>
            <a:lvl6pPr marL="1890065" indent="0">
              <a:buNone/>
              <a:defRPr sz="1323" b="1"/>
            </a:lvl6pPr>
            <a:lvl7pPr marL="2268078" indent="0">
              <a:buNone/>
              <a:defRPr sz="1323" b="1"/>
            </a:lvl7pPr>
            <a:lvl8pPr marL="2646091" indent="0">
              <a:buNone/>
              <a:defRPr sz="1323" b="1"/>
            </a:lvl8pPr>
            <a:lvl9pPr marL="3024104" indent="0">
              <a:buNone/>
              <a:defRPr sz="1323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94357" y="2761381"/>
            <a:ext cx="4264576" cy="4061576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13" indent="0">
              <a:buNone/>
              <a:defRPr sz="1654" b="1"/>
            </a:lvl2pPr>
            <a:lvl3pPr marL="756026" indent="0">
              <a:buNone/>
              <a:defRPr sz="1488" b="1"/>
            </a:lvl3pPr>
            <a:lvl4pPr marL="1134039" indent="0">
              <a:buNone/>
              <a:defRPr sz="1323" b="1"/>
            </a:lvl4pPr>
            <a:lvl5pPr marL="1512052" indent="0">
              <a:buNone/>
              <a:defRPr sz="1323" b="1"/>
            </a:lvl5pPr>
            <a:lvl6pPr marL="1890065" indent="0">
              <a:buNone/>
              <a:defRPr sz="1323" b="1"/>
            </a:lvl6pPr>
            <a:lvl7pPr marL="2268078" indent="0">
              <a:buNone/>
              <a:defRPr sz="1323" b="1"/>
            </a:lvl7pPr>
            <a:lvl8pPr marL="2646091" indent="0">
              <a:buNone/>
              <a:defRPr sz="1323" b="1"/>
            </a:lvl8pPr>
            <a:lvl9pPr marL="3024104" indent="0">
              <a:buNone/>
              <a:defRPr sz="1323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E00C0A-DEF7-4782-88A8-9D5EF0E9BE7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21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8EEEF8-C566-412F-8A4E-CF51B41F351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96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EC52EE-079C-4417-91FC-4CED8988816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56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579" y="1088454"/>
            <a:ext cx="5103316" cy="5372269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4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94356" y="2267902"/>
            <a:ext cx="3251264" cy="4201570"/>
          </a:xfrm>
        </p:spPr>
        <p:txBody>
          <a:bodyPr/>
          <a:lstStyle>
            <a:lvl1pPr marL="0" indent="0">
              <a:buNone/>
              <a:defRPr sz="1323"/>
            </a:lvl1pPr>
            <a:lvl2pPr marL="378013" indent="0">
              <a:buNone/>
              <a:defRPr sz="1158"/>
            </a:lvl2pPr>
            <a:lvl3pPr marL="756026" indent="0">
              <a:buNone/>
              <a:defRPr sz="992"/>
            </a:lvl3pPr>
            <a:lvl4pPr marL="1134039" indent="0">
              <a:buNone/>
              <a:defRPr sz="827"/>
            </a:lvl4pPr>
            <a:lvl5pPr marL="1512052" indent="0">
              <a:buNone/>
              <a:defRPr sz="827"/>
            </a:lvl5pPr>
            <a:lvl6pPr marL="1890065" indent="0">
              <a:buNone/>
              <a:defRPr sz="827"/>
            </a:lvl6pPr>
            <a:lvl7pPr marL="2268078" indent="0">
              <a:buNone/>
              <a:defRPr sz="827"/>
            </a:lvl7pPr>
            <a:lvl8pPr marL="2646091" indent="0">
              <a:buNone/>
              <a:defRPr sz="827"/>
            </a:lvl8pPr>
            <a:lvl9pPr marL="3024104" indent="0">
              <a:buNone/>
              <a:defRPr sz="827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E2C0E3-79B5-4520-BE31-4533541FEDD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96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285579" y="1088454"/>
            <a:ext cx="5103316" cy="5372269"/>
          </a:xfrm>
        </p:spPr>
        <p:txBody>
          <a:bodyPr/>
          <a:lstStyle>
            <a:lvl1pPr marL="0" indent="0">
              <a:buNone/>
              <a:defRPr sz="2646"/>
            </a:lvl1pPr>
            <a:lvl2pPr marL="378013" indent="0">
              <a:buNone/>
              <a:defRPr sz="2315"/>
            </a:lvl2pPr>
            <a:lvl3pPr marL="756026" indent="0">
              <a:buNone/>
              <a:defRPr sz="1984"/>
            </a:lvl3pPr>
            <a:lvl4pPr marL="1134039" indent="0">
              <a:buNone/>
              <a:defRPr sz="1654"/>
            </a:lvl4pPr>
            <a:lvl5pPr marL="1512052" indent="0">
              <a:buNone/>
              <a:defRPr sz="1654"/>
            </a:lvl5pPr>
            <a:lvl6pPr marL="1890065" indent="0">
              <a:buNone/>
              <a:defRPr sz="1654"/>
            </a:lvl6pPr>
            <a:lvl7pPr marL="2268078" indent="0">
              <a:buNone/>
              <a:defRPr sz="1654"/>
            </a:lvl7pPr>
            <a:lvl8pPr marL="2646091" indent="0">
              <a:buNone/>
              <a:defRPr sz="1654"/>
            </a:lvl8pPr>
            <a:lvl9pPr marL="3024104" indent="0">
              <a:buNone/>
              <a:defRPr sz="1654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94356" y="2267902"/>
            <a:ext cx="3251264" cy="4201570"/>
          </a:xfrm>
        </p:spPr>
        <p:txBody>
          <a:bodyPr/>
          <a:lstStyle>
            <a:lvl1pPr marL="0" indent="0">
              <a:buNone/>
              <a:defRPr sz="1323"/>
            </a:lvl1pPr>
            <a:lvl2pPr marL="378013" indent="0">
              <a:buNone/>
              <a:defRPr sz="1158"/>
            </a:lvl2pPr>
            <a:lvl3pPr marL="756026" indent="0">
              <a:buNone/>
              <a:defRPr sz="992"/>
            </a:lvl3pPr>
            <a:lvl4pPr marL="1134039" indent="0">
              <a:buNone/>
              <a:defRPr sz="827"/>
            </a:lvl4pPr>
            <a:lvl5pPr marL="1512052" indent="0">
              <a:buNone/>
              <a:defRPr sz="827"/>
            </a:lvl5pPr>
            <a:lvl6pPr marL="1890065" indent="0">
              <a:buNone/>
              <a:defRPr sz="827"/>
            </a:lvl6pPr>
            <a:lvl7pPr marL="2268078" indent="0">
              <a:buNone/>
              <a:defRPr sz="827"/>
            </a:lvl7pPr>
            <a:lvl8pPr marL="2646091" indent="0">
              <a:buNone/>
              <a:defRPr sz="827"/>
            </a:lvl8pPr>
            <a:lvl9pPr marL="3024104" indent="0">
              <a:buNone/>
              <a:defRPr sz="827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7C66AF-8B9E-4952-B861-65C58F57325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841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5C23AC-AD0F-4730-9BCB-BAB836430A70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01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213947" y="402483"/>
            <a:ext cx="2173635" cy="640647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93043" y="402483"/>
            <a:ext cx="6394896" cy="640647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0E993F-0D7A-41FA-9192-ADF0921FB22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47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93043" y="402483"/>
            <a:ext cx="869453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93043" y="2012414"/>
            <a:ext cx="869453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93043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98CA4-0F76-4DB7-BB2A-565C91AE1F01}" type="datetimeFigureOut">
              <a:rPr lang="fr-FR" smtClean="0"/>
              <a:t>04/01/2015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339207" y="7006699"/>
            <a:ext cx="340221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119441" y="7006699"/>
            <a:ext cx="226814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78A34D-9DE6-4147-9D18-EECA9A6959A9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08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defTabSz="756026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06" indent="-189006" algn="l" defTabSz="756026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19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5032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058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071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084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097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110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026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039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052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065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078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091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104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503238" y="2595563"/>
            <a:ext cx="9070975" cy="2435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38880" rIns="0" bIns="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4400" dirty="0" smtClean="0">
                <a:solidFill>
                  <a:srgbClr val="000000"/>
                </a:solidFill>
              </a:rPr>
              <a:t>LA CONCURRENCE PURE ET PARFAITE</a:t>
            </a:r>
            <a:r>
              <a:rPr lang="fr-FR" sz="4400" dirty="0">
                <a:solidFill>
                  <a:srgbClr val="000000"/>
                </a:solidFill>
              </a:rPr>
              <a:t/>
            </a:r>
            <a:br>
              <a:rPr lang="fr-FR" sz="4400" dirty="0">
                <a:solidFill>
                  <a:srgbClr val="000000"/>
                </a:solidFill>
              </a:rPr>
            </a:br>
            <a:r>
              <a:rPr lang="fr-FR" sz="2800" dirty="0">
                <a:solidFill>
                  <a:srgbClr val="000000"/>
                </a:solidFill>
              </a:rPr>
              <a:t/>
            </a:r>
            <a:br>
              <a:rPr lang="fr-FR" sz="2800" dirty="0">
                <a:solidFill>
                  <a:srgbClr val="000000"/>
                </a:solidFill>
              </a:rPr>
            </a:br>
            <a:r>
              <a:rPr lang="fr-FR" sz="2800" dirty="0">
                <a:solidFill>
                  <a:srgbClr val="000000"/>
                </a:solidFill>
              </a:rPr>
              <a:t/>
            </a:r>
            <a:br>
              <a:rPr lang="fr-FR" sz="2800" dirty="0">
                <a:solidFill>
                  <a:srgbClr val="000000"/>
                </a:solidFill>
              </a:rPr>
            </a:br>
            <a:endParaRPr lang="fr-FR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44512" y="427037"/>
            <a:ext cx="8569325" cy="1620837"/>
          </a:xfrm>
        </p:spPr>
        <p:txBody>
          <a:bodyPr/>
          <a:lstStyle/>
          <a:p>
            <a:r>
              <a:rPr lang="fr-FR" dirty="0" smtClean="0"/>
              <a:t>LES HYPOTHESES DE BASE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73112" y="2255837"/>
            <a:ext cx="7056437" cy="4035426"/>
          </a:xfrm>
        </p:spPr>
        <p:txBody>
          <a:bodyPr/>
          <a:lstStyle/>
          <a:p>
            <a:pPr algn="l"/>
            <a:r>
              <a:rPr lang="fr-FR" sz="3600" dirty="0" smtClean="0"/>
              <a:t>Atomicité du marché</a:t>
            </a:r>
          </a:p>
          <a:p>
            <a:pPr algn="l"/>
            <a:r>
              <a:rPr lang="fr-FR" sz="3600" dirty="0" smtClean="0"/>
              <a:t>Homogénéité du produit</a:t>
            </a:r>
          </a:p>
          <a:p>
            <a:pPr algn="l"/>
            <a:r>
              <a:rPr lang="fr-FR" sz="3600" dirty="0" smtClean="0"/>
              <a:t>Fluidité du marché</a:t>
            </a:r>
          </a:p>
          <a:p>
            <a:pPr algn="l"/>
            <a:r>
              <a:rPr lang="fr-FR" sz="3600" dirty="0" smtClean="0"/>
              <a:t>Transparence du marché</a:t>
            </a:r>
          </a:p>
          <a:p>
            <a:pPr algn="l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6047" y="335985"/>
            <a:ext cx="8568531" cy="1259946"/>
          </a:xfrm>
        </p:spPr>
        <p:txBody>
          <a:bodyPr/>
          <a:lstStyle/>
          <a:p>
            <a:r>
              <a:rPr lang="fr-CH" dirty="0">
                <a:latin typeface="Arial" charset="0"/>
              </a:rPr>
              <a:t> </a:t>
            </a:r>
            <a:r>
              <a:rPr lang="fr-CH" dirty="0" smtClean="0">
                <a:latin typeface="Arial" charset="0"/>
              </a:rPr>
              <a:t>Implications de ces hypothèses:</a:t>
            </a:r>
            <a:r>
              <a:rPr lang="fr-CH" dirty="0" smtClean="0"/>
              <a:t> </a:t>
            </a:r>
            <a:endParaRPr lang="fr-CH" dirty="0"/>
          </a:p>
        </p:txBody>
      </p:sp>
      <p:sp>
        <p:nvSpPr>
          <p:cNvPr id="352259" name="Rectangle 3"/>
          <p:cNvSpPr>
            <a:spLocks noGrp="1" noChangeArrowheads="1"/>
          </p:cNvSpPr>
          <p:nvPr>
            <p:ph idx="1"/>
          </p:nvPr>
        </p:nvSpPr>
        <p:spPr>
          <a:xfrm>
            <a:off x="315912" y="1189038"/>
            <a:ext cx="8924661" cy="59436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fr-CH" sz="2200" dirty="0">
                <a:sym typeface="Symbol" pitchFamily="18" charset="2"/>
              </a:rPr>
              <a:t>   </a:t>
            </a:r>
            <a:r>
              <a:rPr lang="fr-CH" sz="3000" dirty="0" smtClean="0">
                <a:sym typeface="Symbol" pitchFamily="18" charset="2"/>
              </a:rPr>
              <a:t>La firme ne </a:t>
            </a:r>
            <a:r>
              <a:rPr lang="fr-CH" sz="3000" dirty="0">
                <a:sym typeface="Symbol" pitchFamily="18" charset="2"/>
              </a:rPr>
              <a:t>peut influencer le prix du marché </a:t>
            </a:r>
            <a:r>
              <a:rPr lang="fr-CH" sz="3000" dirty="0" smtClean="0">
                <a:sym typeface="Symbol" pitchFamily="18" charset="2"/>
              </a:rPr>
              <a:t>(Ce prix est </a:t>
            </a:r>
            <a:r>
              <a:rPr lang="fr-CH" sz="3000" dirty="0">
                <a:sym typeface="Symbol" pitchFamily="18" charset="2"/>
              </a:rPr>
              <a:t>déterminé par </a:t>
            </a:r>
            <a:r>
              <a:rPr lang="fr-CH" sz="3000" dirty="0" smtClean="0">
                <a:sym typeface="Symbol" pitchFamily="18" charset="2"/>
              </a:rPr>
              <a:t>la confrontation entre l’offre </a:t>
            </a:r>
            <a:r>
              <a:rPr lang="fr-CH" sz="3000" dirty="0">
                <a:sym typeface="Symbol" pitchFamily="18" charset="2"/>
              </a:rPr>
              <a:t>et la demande </a:t>
            </a:r>
            <a:r>
              <a:rPr lang="fr-CH" sz="3000" dirty="0" smtClean="0">
                <a:sym typeface="Symbol" pitchFamily="18" charset="2"/>
              </a:rPr>
              <a:t>sur le </a:t>
            </a:r>
            <a:r>
              <a:rPr lang="fr-CH" sz="3000" dirty="0">
                <a:sym typeface="Symbol" pitchFamily="18" charset="2"/>
              </a:rPr>
              <a:t>marché). Chaque firme est </a:t>
            </a:r>
            <a:r>
              <a:rPr lang="fr-CH" sz="3000" dirty="0" smtClean="0">
                <a:sym typeface="Symbol" pitchFamily="18" charset="2"/>
              </a:rPr>
              <a:t>preneuse de prix ou «</a:t>
            </a:r>
            <a:r>
              <a:rPr lang="fr-CH" sz="3000" i="1" dirty="0">
                <a:sym typeface="Symbol" pitchFamily="18" charset="2"/>
              </a:rPr>
              <a:t> </a:t>
            </a:r>
            <a:r>
              <a:rPr lang="fr-CH" sz="3000" i="1" dirty="0" err="1">
                <a:sym typeface="Symbol" pitchFamily="18" charset="2"/>
              </a:rPr>
              <a:t>price</a:t>
            </a:r>
            <a:r>
              <a:rPr lang="fr-CH" sz="3000" i="1" dirty="0">
                <a:sym typeface="Symbol" pitchFamily="18" charset="2"/>
              </a:rPr>
              <a:t>-</a:t>
            </a:r>
            <a:r>
              <a:rPr lang="fr-CH" sz="3000" i="1" dirty="0" err="1">
                <a:sym typeface="Symbol" pitchFamily="18" charset="2"/>
              </a:rPr>
              <a:t>taker</a:t>
            </a:r>
            <a:r>
              <a:rPr lang="fr-CH" sz="3000" dirty="0">
                <a:sym typeface="Symbol" pitchFamily="18" charset="2"/>
              </a:rPr>
              <a:t> ».</a:t>
            </a:r>
          </a:p>
          <a:p>
            <a:pPr>
              <a:buFontTx/>
              <a:buNone/>
            </a:pPr>
            <a:r>
              <a:rPr lang="fr-CH" sz="3000" dirty="0" smtClean="0">
                <a:sym typeface="Symbol" pitchFamily="18" charset="2"/>
              </a:rPr>
              <a:t>   Puisque à chaque firme, pour un prix fixé par le marché, on peut faire correspondre plusieurs quantités que cette firme veut entreprendre, alors la courbe de la demande est une droite horizontale.</a:t>
            </a:r>
          </a:p>
          <a:p>
            <a:pPr algn="ctr">
              <a:buFontTx/>
              <a:buNone/>
            </a:pPr>
            <a:r>
              <a:rPr lang="fr-CH" sz="2800" dirty="0" err="1" smtClean="0">
                <a:sym typeface="Symbol" pitchFamily="18" charset="2"/>
              </a:rPr>
              <a:t>Rm</a:t>
            </a:r>
            <a:r>
              <a:rPr lang="fr-CH" sz="2800" dirty="0" smtClean="0">
                <a:sym typeface="Symbol" pitchFamily="18" charset="2"/>
              </a:rPr>
              <a:t> = RM =Prix</a:t>
            </a:r>
          </a:p>
          <a:p>
            <a:pPr algn="ctr">
              <a:buFontTx/>
              <a:buNone/>
            </a:pPr>
            <a:r>
              <a:rPr lang="fr-CH" sz="2800" dirty="0" smtClean="0">
                <a:sym typeface="Symbol" pitchFamily="18" charset="2"/>
              </a:rPr>
              <a:t>Le profit est maximum lorsque </a:t>
            </a:r>
            <a:r>
              <a:rPr lang="fr-CH" sz="2800" dirty="0" err="1" smtClean="0">
                <a:sym typeface="Symbol" pitchFamily="18" charset="2"/>
              </a:rPr>
              <a:t>Rm</a:t>
            </a:r>
            <a:r>
              <a:rPr lang="fr-CH" sz="2800" dirty="0" smtClean="0">
                <a:sym typeface="Symbol" pitchFamily="18" charset="2"/>
              </a:rPr>
              <a:t> = Cm</a:t>
            </a:r>
          </a:p>
          <a:p>
            <a:pPr algn="ctr">
              <a:buFontTx/>
              <a:buNone/>
            </a:pPr>
            <a:r>
              <a:rPr lang="fr-CH" sz="2800" dirty="0" smtClean="0">
                <a:sym typeface="Symbol" pitchFamily="18" charset="2"/>
              </a:rPr>
              <a:t>Cm = Prix</a:t>
            </a:r>
            <a:endParaRPr lang="fr-CH" sz="2800" dirty="0">
              <a:sym typeface="Symbol" pitchFamily="18" charset="2"/>
            </a:endParaRPr>
          </a:p>
          <a:p>
            <a:pPr>
              <a:lnSpc>
                <a:spcPct val="40000"/>
              </a:lnSpc>
              <a:buFontTx/>
              <a:buNone/>
            </a:pPr>
            <a:endParaRPr lang="fr-CH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fr-CH" dirty="0">
                <a:sym typeface="Symbol" pitchFamily="18" charset="2"/>
              </a:rPr>
              <a:t>    </a:t>
            </a:r>
          </a:p>
          <a:p>
            <a:pPr>
              <a:buFontTx/>
              <a:buNone/>
            </a:pPr>
            <a:endParaRPr lang="fr-CH" dirty="0"/>
          </a:p>
          <a:p>
            <a:pPr>
              <a:buFontTx/>
              <a:buNone/>
            </a:pPr>
            <a:endParaRPr lang="fr-CH" dirty="0"/>
          </a:p>
          <a:p>
            <a:pPr>
              <a:buFontTx/>
              <a:buNone/>
            </a:pPr>
            <a:endParaRPr lang="fr-C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Connecteur droit 46"/>
          <p:cNvCxnSpPr/>
          <p:nvPr/>
        </p:nvCxnSpPr>
        <p:spPr bwMode="auto">
          <a:xfrm flipH="1">
            <a:off x="5040312" y="3768947"/>
            <a:ext cx="1676400" cy="10884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Connecteur droit 45"/>
          <p:cNvCxnSpPr/>
          <p:nvPr/>
        </p:nvCxnSpPr>
        <p:spPr bwMode="auto">
          <a:xfrm flipH="1">
            <a:off x="5040312" y="3790721"/>
            <a:ext cx="742044" cy="0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Connecteur droit avec flèche 6"/>
          <p:cNvCxnSpPr/>
          <p:nvPr/>
        </p:nvCxnSpPr>
        <p:spPr bwMode="auto">
          <a:xfrm>
            <a:off x="925512" y="6218237"/>
            <a:ext cx="3733800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necteur droit avec flèche 8"/>
          <p:cNvCxnSpPr/>
          <p:nvPr/>
        </p:nvCxnSpPr>
        <p:spPr bwMode="auto">
          <a:xfrm flipV="1">
            <a:off x="925512" y="884237"/>
            <a:ext cx="0" cy="533400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necteur droit avec flèche 9"/>
          <p:cNvCxnSpPr/>
          <p:nvPr/>
        </p:nvCxnSpPr>
        <p:spPr bwMode="auto">
          <a:xfrm flipV="1">
            <a:off x="5040312" y="884237"/>
            <a:ext cx="0" cy="533400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Connecteur droit avec flèche 10"/>
          <p:cNvCxnSpPr/>
          <p:nvPr/>
        </p:nvCxnSpPr>
        <p:spPr bwMode="auto">
          <a:xfrm>
            <a:off x="5040312" y="6218237"/>
            <a:ext cx="3733800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Forme libre 15"/>
          <p:cNvSpPr/>
          <p:nvPr/>
        </p:nvSpPr>
        <p:spPr bwMode="auto">
          <a:xfrm>
            <a:off x="1117600" y="1436914"/>
            <a:ext cx="3106057" cy="2888343"/>
          </a:xfrm>
          <a:custGeom>
            <a:avLst/>
            <a:gdLst>
              <a:gd name="connsiteX0" fmla="*/ 0 w 3106057"/>
              <a:gd name="connsiteY0" fmla="*/ 0 h 2888343"/>
              <a:gd name="connsiteX1" fmla="*/ 696686 w 3106057"/>
              <a:gd name="connsiteY1" fmla="*/ 1799772 h 2888343"/>
              <a:gd name="connsiteX2" fmla="*/ 3106057 w 3106057"/>
              <a:gd name="connsiteY2" fmla="*/ 2888343 h 288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057" h="2888343">
                <a:moveTo>
                  <a:pt x="0" y="0"/>
                </a:moveTo>
                <a:cubicBezTo>
                  <a:pt x="89505" y="659191"/>
                  <a:pt x="179010" y="1318382"/>
                  <a:pt x="696686" y="1799772"/>
                </a:cubicBezTo>
                <a:cubicBezTo>
                  <a:pt x="1214362" y="2281163"/>
                  <a:pt x="2160209" y="2584753"/>
                  <a:pt x="3106057" y="2888343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17" name="Forme libre 16"/>
          <p:cNvSpPr/>
          <p:nvPr/>
        </p:nvSpPr>
        <p:spPr bwMode="auto">
          <a:xfrm>
            <a:off x="1219200" y="1480457"/>
            <a:ext cx="2931886" cy="2902857"/>
          </a:xfrm>
          <a:custGeom>
            <a:avLst/>
            <a:gdLst>
              <a:gd name="connsiteX0" fmla="*/ 0 w 2931886"/>
              <a:gd name="connsiteY0" fmla="*/ 2902857 h 2902857"/>
              <a:gd name="connsiteX1" fmla="*/ 2278743 w 2931886"/>
              <a:gd name="connsiteY1" fmla="*/ 1872343 h 2902857"/>
              <a:gd name="connsiteX2" fmla="*/ 2931886 w 2931886"/>
              <a:gd name="connsiteY2" fmla="*/ 0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31886" h="2902857">
                <a:moveTo>
                  <a:pt x="0" y="2902857"/>
                </a:moveTo>
                <a:cubicBezTo>
                  <a:pt x="895047" y="2629504"/>
                  <a:pt x="1790095" y="2356152"/>
                  <a:pt x="2278743" y="1872343"/>
                </a:cubicBezTo>
                <a:cubicBezTo>
                  <a:pt x="2767391" y="1388534"/>
                  <a:pt x="2849638" y="694267"/>
                  <a:pt x="2931886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cxnSp>
        <p:nvCxnSpPr>
          <p:cNvPr id="19" name="Connecteur droit 18"/>
          <p:cNvCxnSpPr/>
          <p:nvPr/>
        </p:nvCxnSpPr>
        <p:spPr bwMode="auto">
          <a:xfrm>
            <a:off x="2815998" y="3856037"/>
            <a:ext cx="0" cy="2362200"/>
          </a:xfrm>
          <a:prstGeom prst="line">
            <a:avLst/>
          </a:prstGeom>
          <a:solidFill>
            <a:srgbClr val="00B8FF"/>
          </a:solidFill>
          <a:ln w="317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Connecteur droit 20"/>
          <p:cNvCxnSpPr/>
          <p:nvPr/>
        </p:nvCxnSpPr>
        <p:spPr bwMode="auto">
          <a:xfrm flipH="1">
            <a:off x="925512" y="3823379"/>
            <a:ext cx="1905000" cy="0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Rectangle 21"/>
          <p:cNvSpPr/>
          <p:nvPr/>
        </p:nvSpPr>
        <p:spPr bwMode="auto">
          <a:xfrm>
            <a:off x="3440112" y="503237"/>
            <a:ext cx="1219200" cy="990600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Offre</a:t>
            </a:r>
          </a:p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fr-FR" dirty="0" smtClean="0">
                <a:ea typeface="MS Gothic" charset="-128"/>
              </a:rPr>
              <a:t>Du marché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3516312" y="4313237"/>
            <a:ext cx="1219200" cy="838200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fr-FR" dirty="0" smtClean="0">
                <a:ea typeface="MS Gothic" charset="-128"/>
              </a:rPr>
              <a:t>Demande</a:t>
            </a:r>
          </a:p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Du </a:t>
            </a:r>
          </a:p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fr-FR" dirty="0" smtClean="0">
                <a:ea typeface="MS Gothic" charset="-128"/>
              </a:rPr>
              <a:t>marché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24" name="Ellipse 23"/>
          <p:cNvSpPr/>
          <p:nvPr/>
        </p:nvSpPr>
        <p:spPr bwMode="auto">
          <a:xfrm>
            <a:off x="2449512" y="6294437"/>
            <a:ext cx="838200" cy="6096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Q*</a:t>
            </a:r>
          </a:p>
        </p:txBody>
      </p:sp>
      <p:sp>
        <p:nvSpPr>
          <p:cNvPr id="25" name="Ellipse 24"/>
          <p:cNvSpPr/>
          <p:nvPr/>
        </p:nvSpPr>
        <p:spPr bwMode="auto">
          <a:xfrm>
            <a:off x="101598" y="3551237"/>
            <a:ext cx="773112" cy="609600"/>
          </a:xfrm>
          <a:prstGeom prst="ellips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fr-FR" dirty="0" smtClean="0">
                <a:ea typeface="MS Gothic" charset="-128"/>
              </a:rPr>
              <a:t>P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*</a:t>
            </a:r>
          </a:p>
        </p:txBody>
      </p:sp>
      <p:sp>
        <p:nvSpPr>
          <p:cNvPr id="26" name="Organigramme : Connecteur 25"/>
          <p:cNvSpPr/>
          <p:nvPr/>
        </p:nvSpPr>
        <p:spPr bwMode="auto">
          <a:xfrm>
            <a:off x="2696256" y="3703637"/>
            <a:ext cx="152400" cy="2286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27" name="Organigramme : Connecteur 26"/>
          <p:cNvSpPr/>
          <p:nvPr/>
        </p:nvSpPr>
        <p:spPr bwMode="auto">
          <a:xfrm>
            <a:off x="5497512" y="6446837"/>
            <a:ext cx="762000" cy="533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Q1</a:t>
            </a:r>
          </a:p>
        </p:txBody>
      </p:sp>
      <p:sp>
        <p:nvSpPr>
          <p:cNvPr id="28" name="Organigramme : Connecteur 27"/>
          <p:cNvSpPr/>
          <p:nvPr/>
        </p:nvSpPr>
        <p:spPr bwMode="auto">
          <a:xfrm>
            <a:off x="6335712" y="6446837"/>
            <a:ext cx="762000" cy="533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Q2</a:t>
            </a:r>
          </a:p>
        </p:txBody>
      </p:sp>
      <p:sp>
        <p:nvSpPr>
          <p:cNvPr id="29" name="Organigramme : Connecteur 28"/>
          <p:cNvSpPr/>
          <p:nvPr/>
        </p:nvSpPr>
        <p:spPr bwMode="auto">
          <a:xfrm>
            <a:off x="7173912" y="6446837"/>
            <a:ext cx="762000" cy="533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Q3</a:t>
            </a:r>
          </a:p>
        </p:txBody>
      </p:sp>
      <p:sp>
        <p:nvSpPr>
          <p:cNvPr id="30" name="Organigramme : Connecteur 29"/>
          <p:cNvSpPr/>
          <p:nvPr/>
        </p:nvSpPr>
        <p:spPr bwMode="auto">
          <a:xfrm>
            <a:off x="8012112" y="6446837"/>
            <a:ext cx="762000" cy="533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Q4</a:t>
            </a:r>
          </a:p>
        </p:txBody>
      </p:sp>
      <p:sp>
        <p:nvSpPr>
          <p:cNvPr id="31" name="Organigramme : Connecteur 30"/>
          <p:cNvSpPr/>
          <p:nvPr/>
        </p:nvSpPr>
        <p:spPr bwMode="auto">
          <a:xfrm>
            <a:off x="4125912" y="3551237"/>
            <a:ext cx="762000" cy="533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lang="fr-FR" dirty="0" smtClean="0">
                <a:ea typeface="MS Gothic" charset="-128"/>
              </a:rPr>
              <a:t>P*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cxnSp>
        <p:nvCxnSpPr>
          <p:cNvPr id="33" name="Connecteur droit 32"/>
          <p:cNvCxnSpPr/>
          <p:nvPr/>
        </p:nvCxnSpPr>
        <p:spPr bwMode="auto">
          <a:xfrm flipV="1">
            <a:off x="5802312" y="3779837"/>
            <a:ext cx="0" cy="2438400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Connecteur droit 33"/>
          <p:cNvCxnSpPr/>
          <p:nvPr/>
        </p:nvCxnSpPr>
        <p:spPr bwMode="auto">
          <a:xfrm flipV="1">
            <a:off x="6716712" y="3779837"/>
            <a:ext cx="0" cy="2438400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Connecteur droit 34"/>
          <p:cNvCxnSpPr/>
          <p:nvPr/>
        </p:nvCxnSpPr>
        <p:spPr bwMode="auto">
          <a:xfrm flipV="1">
            <a:off x="7554912" y="3779837"/>
            <a:ext cx="0" cy="2438400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Connecteur droit 35"/>
          <p:cNvCxnSpPr/>
          <p:nvPr/>
        </p:nvCxnSpPr>
        <p:spPr bwMode="auto">
          <a:xfrm flipV="1">
            <a:off x="8331426" y="3779837"/>
            <a:ext cx="0" cy="2438400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Organigramme : Connecteur 36"/>
          <p:cNvSpPr/>
          <p:nvPr/>
        </p:nvSpPr>
        <p:spPr bwMode="auto">
          <a:xfrm>
            <a:off x="5668056" y="3703637"/>
            <a:ext cx="228600" cy="152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38" name="Organigramme : Connecteur 37"/>
          <p:cNvSpPr/>
          <p:nvPr/>
        </p:nvSpPr>
        <p:spPr bwMode="auto">
          <a:xfrm>
            <a:off x="6593340" y="3703637"/>
            <a:ext cx="228600" cy="152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39" name="Organigramme : Connecteur 38"/>
          <p:cNvSpPr/>
          <p:nvPr/>
        </p:nvSpPr>
        <p:spPr bwMode="auto">
          <a:xfrm>
            <a:off x="7449684" y="3703637"/>
            <a:ext cx="228600" cy="152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sp>
        <p:nvSpPr>
          <p:cNvPr id="40" name="Organigramme : Connecteur 39"/>
          <p:cNvSpPr/>
          <p:nvPr/>
        </p:nvSpPr>
        <p:spPr bwMode="auto">
          <a:xfrm>
            <a:off x="8208054" y="3703637"/>
            <a:ext cx="228600" cy="152400"/>
          </a:xfrm>
          <a:prstGeom prst="flowChartConnector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  <p:cxnSp>
        <p:nvCxnSpPr>
          <p:cNvPr id="52" name="Connecteur droit 51"/>
          <p:cNvCxnSpPr/>
          <p:nvPr/>
        </p:nvCxnSpPr>
        <p:spPr bwMode="auto">
          <a:xfrm flipH="1">
            <a:off x="5040312" y="3768941"/>
            <a:ext cx="2514600" cy="10884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Connecteur droit 53"/>
          <p:cNvCxnSpPr/>
          <p:nvPr/>
        </p:nvCxnSpPr>
        <p:spPr bwMode="auto">
          <a:xfrm flipH="1">
            <a:off x="5040312" y="3758051"/>
            <a:ext cx="3352800" cy="10884"/>
          </a:xfrm>
          <a:prstGeom prst="line">
            <a:avLst/>
          </a:prstGeom>
          <a:solidFill>
            <a:srgbClr val="00B8FF"/>
          </a:solidFill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Connecteur droit 56"/>
          <p:cNvCxnSpPr/>
          <p:nvPr/>
        </p:nvCxnSpPr>
        <p:spPr bwMode="auto">
          <a:xfrm>
            <a:off x="5040312" y="3779837"/>
            <a:ext cx="4648200" cy="0"/>
          </a:xfrm>
          <a:prstGeom prst="line">
            <a:avLst/>
          </a:prstGeom>
          <a:solidFill>
            <a:srgbClr val="00B8FF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Rectangle 57"/>
          <p:cNvSpPr/>
          <p:nvPr/>
        </p:nvSpPr>
        <p:spPr bwMode="auto">
          <a:xfrm>
            <a:off x="8709025" y="2865437"/>
            <a:ext cx="1371600" cy="838200"/>
          </a:xfrm>
          <a:prstGeom prst="rect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Demande pour </a:t>
            </a:r>
            <a:r>
              <a:rPr kumimoji="0" lang="fr-FR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MS Gothic" charset="-128"/>
              </a:rPr>
              <a:t>l’entreprise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MS 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0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49312" y="274637"/>
            <a:ext cx="8569325" cy="935037"/>
          </a:xfrm>
        </p:spPr>
        <p:txBody>
          <a:bodyPr/>
          <a:lstStyle/>
          <a:p>
            <a:r>
              <a:rPr lang="fr-FR" dirty="0" smtClean="0"/>
              <a:t>SEUIL DE RENTABILITE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68312" y="1646237"/>
            <a:ext cx="8915400" cy="5715000"/>
          </a:xfrm>
        </p:spPr>
        <p:txBody>
          <a:bodyPr>
            <a:normAutofit/>
          </a:bodyPr>
          <a:lstStyle/>
          <a:p>
            <a:r>
              <a:rPr lang="fr-FR" sz="3200" dirty="0" smtClean="0"/>
              <a:t>C’est le prix à partir duquel l’activité de l’entreprise est rentable (l’entreprise dégage un profit positif)</a:t>
            </a:r>
          </a:p>
          <a:p>
            <a:r>
              <a:rPr lang="fr-FR" sz="3200" dirty="0" smtClean="0"/>
              <a:t>Dans le cas d’une concurrence pure et parfaite </a:t>
            </a:r>
          </a:p>
          <a:p>
            <a:r>
              <a:rPr lang="fr-FR" sz="3200" dirty="0" smtClean="0"/>
              <a:t>Profit= Recette totale – Coût total </a:t>
            </a:r>
          </a:p>
          <a:p>
            <a:r>
              <a:rPr lang="fr-FR" sz="3200" dirty="0" smtClean="0"/>
              <a:t>Le Profit est positif si:</a:t>
            </a:r>
          </a:p>
          <a:p>
            <a:r>
              <a:rPr lang="fr-FR" sz="3200" dirty="0" smtClean="0"/>
              <a:t>Recette totale – Coût total ≥ 0</a:t>
            </a:r>
          </a:p>
          <a:p>
            <a:r>
              <a:rPr lang="fr-FR" sz="3200" dirty="0" smtClean="0"/>
              <a:t>Recette totale ≥ Coût total ou encore RM ≥CM</a:t>
            </a:r>
          </a:p>
          <a:p>
            <a:r>
              <a:rPr lang="fr-FR" sz="3200" dirty="0" smtClean="0"/>
              <a:t>Donc le seuil de rentabilité correspond au minimum du Coût moyen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756047" y="503978"/>
            <a:ext cx="8568531" cy="1259946"/>
          </a:xfrm>
        </p:spPr>
        <p:txBody>
          <a:bodyPr/>
          <a:lstStyle/>
          <a:p>
            <a:pPr algn="ctr"/>
            <a:r>
              <a:rPr lang="fr-CH" dirty="0">
                <a:latin typeface="Arial" charset="0"/>
              </a:rPr>
              <a:t>Seuil de fermeture</a:t>
            </a:r>
            <a:endParaRPr lang="fr-CH" dirty="0"/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>
          <a:xfrm>
            <a:off x="392113" y="1493837"/>
            <a:ext cx="8932466" cy="5333999"/>
          </a:xfrm>
        </p:spPr>
        <p:txBody>
          <a:bodyPr/>
          <a:lstStyle/>
          <a:p>
            <a:pPr algn="ctr">
              <a:buFontTx/>
              <a:buNone/>
            </a:pPr>
            <a:r>
              <a:rPr lang="fr-CH" dirty="0"/>
              <a:t>   </a:t>
            </a:r>
            <a:r>
              <a:rPr lang="fr-CH" sz="3600" dirty="0"/>
              <a:t>Le </a:t>
            </a:r>
            <a:r>
              <a:rPr lang="fr-CH" sz="3600" dirty="0">
                <a:solidFill>
                  <a:schemeClr val="tx2"/>
                </a:solidFill>
              </a:rPr>
              <a:t>seuil de fermeture </a:t>
            </a:r>
            <a:r>
              <a:rPr lang="fr-CH" sz="3600" dirty="0"/>
              <a:t>(SF) correspond au prix </a:t>
            </a:r>
            <a:r>
              <a:rPr lang="fr-CH" sz="3600" dirty="0" smtClean="0"/>
              <a:t>à partir duquel, l’entreprise réalisera ses activités.  </a:t>
            </a:r>
            <a:endParaRPr lang="fr-CH" sz="3600" dirty="0"/>
          </a:p>
          <a:p>
            <a:pPr algn="ctr">
              <a:buFontTx/>
              <a:buNone/>
            </a:pPr>
            <a:r>
              <a:rPr lang="fr-CH" sz="3600" dirty="0"/>
              <a:t>	</a:t>
            </a:r>
            <a:r>
              <a:rPr lang="fr-CH" sz="3600" dirty="0" smtClean="0"/>
              <a:t>Il correspond au </a:t>
            </a:r>
            <a:r>
              <a:rPr lang="fr-CH" sz="3600" dirty="0"/>
              <a:t>minimum </a:t>
            </a:r>
            <a:r>
              <a:rPr lang="fr-CH" sz="3600" dirty="0" smtClean="0"/>
              <a:t>du coût variable moyen.</a:t>
            </a:r>
            <a:endParaRPr lang="fr-CH" sz="3600" dirty="0"/>
          </a:p>
          <a:p>
            <a:pPr algn="ctr">
              <a:buFontTx/>
              <a:buNone/>
            </a:pPr>
            <a:r>
              <a:rPr lang="fr-CH" sz="3600" dirty="0"/>
              <a:t>   Au seuil de fermeture, tous les coûts variables sont couverts</a:t>
            </a:r>
            <a:r>
              <a:rPr lang="fr-CH" sz="3600" dirty="0" smtClean="0"/>
              <a:t>. Si le prix du marché est inférieur au minimum du CVM, l’entreprise cessera ses activités.</a:t>
            </a:r>
            <a:endParaRPr lang="fr-CH" sz="3600" dirty="0"/>
          </a:p>
          <a:p>
            <a:pPr>
              <a:lnSpc>
                <a:spcPct val="30000"/>
              </a:lnSpc>
            </a:pPr>
            <a:endParaRPr lang="fr-CH" dirty="0"/>
          </a:p>
          <a:p>
            <a:pPr>
              <a:buNone/>
            </a:pPr>
            <a:endParaRPr lang="fr-C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avec flèche 6"/>
          <p:cNvCxnSpPr/>
          <p:nvPr/>
        </p:nvCxnSpPr>
        <p:spPr>
          <a:xfrm flipV="1">
            <a:off x="1458912" y="427037"/>
            <a:ext cx="0" cy="594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>
            <a:off x="1458912" y="6370637"/>
            <a:ext cx="815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rme libre 12"/>
          <p:cNvSpPr/>
          <p:nvPr/>
        </p:nvSpPr>
        <p:spPr>
          <a:xfrm>
            <a:off x="2461846" y="1477108"/>
            <a:ext cx="6780628" cy="2303842"/>
          </a:xfrm>
          <a:custGeom>
            <a:avLst/>
            <a:gdLst>
              <a:gd name="connsiteX0" fmla="*/ 0 w 6780628"/>
              <a:gd name="connsiteY0" fmla="*/ 0 h 2303842"/>
              <a:gd name="connsiteX1" fmla="*/ 1153551 w 6780628"/>
              <a:gd name="connsiteY1" fmla="*/ 1730326 h 2303842"/>
              <a:gd name="connsiteX2" fmla="*/ 2771336 w 6780628"/>
              <a:gd name="connsiteY2" fmla="*/ 2293034 h 2303842"/>
              <a:gd name="connsiteX3" fmla="*/ 5050302 w 6780628"/>
              <a:gd name="connsiteY3" fmla="*/ 1927274 h 2303842"/>
              <a:gd name="connsiteX4" fmla="*/ 6780628 w 6780628"/>
              <a:gd name="connsiteY4" fmla="*/ 28135 h 230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0628" h="2303842">
                <a:moveTo>
                  <a:pt x="0" y="0"/>
                </a:moveTo>
                <a:cubicBezTo>
                  <a:pt x="345831" y="674077"/>
                  <a:pt x="691662" y="1348154"/>
                  <a:pt x="1153551" y="1730326"/>
                </a:cubicBezTo>
                <a:cubicBezTo>
                  <a:pt x="1615440" y="2112498"/>
                  <a:pt x="2121878" y="2260209"/>
                  <a:pt x="2771336" y="2293034"/>
                </a:cubicBezTo>
                <a:cubicBezTo>
                  <a:pt x="3420794" y="2325859"/>
                  <a:pt x="4382087" y="2304757"/>
                  <a:pt x="5050302" y="1927274"/>
                </a:cubicBezTo>
                <a:cubicBezTo>
                  <a:pt x="5718517" y="1549791"/>
                  <a:pt x="6249572" y="788963"/>
                  <a:pt x="6780628" y="2813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orme libre 13"/>
          <p:cNvSpPr/>
          <p:nvPr/>
        </p:nvSpPr>
        <p:spPr>
          <a:xfrm>
            <a:off x="1687512" y="3398837"/>
            <a:ext cx="6553200" cy="1435188"/>
          </a:xfrm>
          <a:custGeom>
            <a:avLst/>
            <a:gdLst>
              <a:gd name="connsiteX0" fmla="*/ 0 w 7751298"/>
              <a:gd name="connsiteY0" fmla="*/ 281354 h 2767247"/>
              <a:gd name="connsiteX1" fmla="*/ 1983545 w 7751298"/>
              <a:gd name="connsiteY1" fmla="*/ 2222696 h 2767247"/>
              <a:gd name="connsiteX2" fmla="*/ 3601329 w 7751298"/>
              <a:gd name="connsiteY2" fmla="*/ 2757268 h 2767247"/>
              <a:gd name="connsiteX3" fmla="*/ 5331655 w 7751298"/>
              <a:gd name="connsiteY3" fmla="*/ 2349305 h 2767247"/>
              <a:gd name="connsiteX4" fmla="*/ 7751298 w 7751298"/>
              <a:gd name="connsiteY4" fmla="*/ 0 h 276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1298" h="2767247">
                <a:moveTo>
                  <a:pt x="0" y="281354"/>
                </a:moveTo>
                <a:cubicBezTo>
                  <a:pt x="691662" y="1045699"/>
                  <a:pt x="1383324" y="1810044"/>
                  <a:pt x="1983545" y="2222696"/>
                </a:cubicBezTo>
                <a:cubicBezTo>
                  <a:pt x="2583767" y="2635348"/>
                  <a:pt x="3043311" y="2736166"/>
                  <a:pt x="3601329" y="2757268"/>
                </a:cubicBezTo>
                <a:cubicBezTo>
                  <a:pt x="4159347" y="2778370"/>
                  <a:pt x="4639994" y="2808850"/>
                  <a:pt x="5331655" y="2349305"/>
                </a:cubicBezTo>
                <a:cubicBezTo>
                  <a:pt x="6023316" y="1889760"/>
                  <a:pt x="6887307" y="944880"/>
                  <a:pt x="7751298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15"/>
          <p:cNvCxnSpPr/>
          <p:nvPr/>
        </p:nvCxnSpPr>
        <p:spPr>
          <a:xfrm>
            <a:off x="1458912" y="3793905"/>
            <a:ext cx="4191000" cy="586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flipV="1">
            <a:off x="1458912" y="4846637"/>
            <a:ext cx="3657600" cy="257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926512" y="884237"/>
            <a:ext cx="838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CM</a:t>
            </a:r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8240712" y="3246437"/>
            <a:ext cx="838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CVM</a:t>
            </a:r>
            <a:endParaRPr lang="fr-FR" dirty="0"/>
          </a:p>
        </p:txBody>
      </p:sp>
      <p:sp>
        <p:nvSpPr>
          <p:cNvPr id="23" name="Text Box 26"/>
          <p:cNvSpPr txBox="1">
            <a:spLocks noChangeArrowheads="1"/>
          </p:cNvSpPr>
          <p:nvPr/>
        </p:nvSpPr>
        <p:spPr bwMode="auto">
          <a:xfrm>
            <a:off x="773112" y="3703637"/>
            <a:ext cx="1008063" cy="3594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100794" tIns="50397" rIns="100794" bIns="50397">
            <a:spAutoFit/>
          </a:bodyPr>
          <a:lstStyle/>
          <a:p>
            <a:pPr defTabSz="839953">
              <a:spcBef>
                <a:spcPct val="50000"/>
              </a:spcBef>
            </a:pPr>
            <a:r>
              <a:rPr lang="fr-FR" u="none" dirty="0" smtClean="0">
                <a:solidFill>
                  <a:srgbClr val="FF0000"/>
                </a:solidFill>
              </a:rPr>
              <a:t>SR</a:t>
            </a:r>
            <a:endParaRPr lang="fr-CH" dirty="0"/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849312" y="4770437"/>
            <a:ext cx="1008063" cy="3594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100794" tIns="50397" rIns="100794" bIns="50397">
            <a:spAutoFit/>
          </a:bodyPr>
          <a:lstStyle/>
          <a:p>
            <a:pPr defTabSz="839953">
              <a:spcBef>
                <a:spcPct val="50000"/>
              </a:spcBef>
            </a:pPr>
            <a:r>
              <a:rPr lang="fr-CH" u="none" dirty="0" smtClean="0">
                <a:solidFill>
                  <a:srgbClr val="FF0000"/>
                </a:solidFill>
              </a:rPr>
              <a:t>SF</a:t>
            </a:r>
            <a:endParaRPr lang="fr-CH" dirty="0"/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9459912" y="6523037"/>
            <a:ext cx="453278" cy="47386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100794" tIns="50397" rIns="100794" bIns="50397">
            <a:spAutoFit/>
          </a:bodyPr>
          <a:lstStyle/>
          <a:p>
            <a:pPr defTabSz="839953">
              <a:spcBef>
                <a:spcPct val="50000"/>
              </a:spcBef>
            </a:pPr>
            <a:r>
              <a:rPr lang="fr-CH" sz="2600" b="1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849312" y="350837"/>
            <a:ext cx="453278" cy="10460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100794" tIns="50397" rIns="100794" bIns="50397">
            <a:spAutoFit/>
          </a:bodyPr>
          <a:lstStyle/>
          <a:p>
            <a:pPr defTabSz="839953">
              <a:spcBef>
                <a:spcPct val="50000"/>
              </a:spcBef>
            </a:pPr>
            <a:r>
              <a:rPr lang="fr-CH" sz="2600" b="1" dirty="0" smtClean="0">
                <a:solidFill>
                  <a:schemeClr val="tx1"/>
                </a:solidFill>
              </a:rPr>
              <a:t>P</a:t>
            </a:r>
          </a:p>
          <a:p>
            <a:pPr defTabSz="839953">
              <a:spcBef>
                <a:spcPct val="50000"/>
              </a:spcBef>
            </a:pPr>
            <a:r>
              <a:rPr lang="fr-CH" sz="26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1" name="Organigramme : Connecteur 30"/>
          <p:cNvSpPr/>
          <p:nvPr/>
        </p:nvSpPr>
        <p:spPr>
          <a:xfrm>
            <a:off x="5573712" y="3703637"/>
            <a:ext cx="228600" cy="152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Organigramme : Connecteur 31"/>
          <p:cNvSpPr/>
          <p:nvPr/>
        </p:nvSpPr>
        <p:spPr>
          <a:xfrm>
            <a:off x="5040312" y="4770437"/>
            <a:ext cx="152400" cy="152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9" grpId="0" animBg="1"/>
      <p:bldP spid="20" grpId="0" animBg="1"/>
      <p:bldP spid="23" grpId="0"/>
      <p:bldP spid="24" grpId="0"/>
      <p:bldP spid="25" grpId="0"/>
      <p:bldP spid="26" grpId="0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H" dirty="0">
                <a:latin typeface="Arial" charset="0"/>
              </a:rPr>
              <a:t>L’offre à </a:t>
            </a:r>
            <a:r>
              <a:rPr lang="fr-CH" dirty="0" smtClean="0">
                <a:latin typeface="Arial" charset="0"/>
              </a:rPr>
              <a:t>court terme d’une </a:t>
            </a:r>
            <a:r>
              <a:rPr lang="fr-CH" dirty="0">
                <a:latin typeface="Arial" charset="0"/>
              </a:rPr>
              <a:t>entreprise </a:t>
            </a:r>
            <a:r>
              <a:rPr lang="fr-CH" dirty="0" smtClean="0">
                <a:latin typeface="Arial" charset="0"/>
              </a:rPr>
              <a:t>dans le cadre d’une concurrence.</a:t>
            </a:r>
            <a:endParaRPr lang="fr-CH" dirty="0"/>
          </a:p>
        </p:txBody>
      </p:sp>
      <p:sp>
        <p:nvSpPr>
          <p:cNvPr id="363523" name="Rectangle 3"/>
          <p:cNvSpPr>
            <a:spLocks noGrp="1" noChangeArrowheads="1"/>
          </p:cNvSpPr>
          <p:nvPr>
            <p:ph idx="1"/>
          </p:nvPr>
        </p:nvSpPr>
        <p:spPr>
          <a:xfrm>
            <a:off x="756047" y="1722437"/>
            <a:ext cx="8568531" cy="52492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fr-CH" dirty="0"/>
              <a:t>   	</a:t>
            </a:r>
            <a:r>
              <a:rPr lang="fr-CH" sz="3200" dirty="0" smtClean="0"/>
              <a:t>La règle de maximisation du profit dans le cadre d’une concurrence parfaite est l’égalisation du prix avec le coût </a:t>
            </a:r>
            <a:r>
              <a:rPr lang="fr-CH" sz="3200" dirty="0" smtClean="0"/>
              <a:t>marginal</a:t>
            </a:r>
            <a:endParaRPr lang="fr-CH" sz="3200" dirty="0"/>
          </a:p>
          <a:p>
            <a:pPr algn="ctr">
              <a:lnSpc>
                <a:spcPct val="110000"/>
              </a:lnSpc>
              <a:buFontTx/>
              <a:buNone/>
            </a:pPr>
            <a:r>
              <a:rPr lang="fr-CH" sz="3200" dirty="0" smtClean="0"/>
              <a:t>P </a:t>
            </a:r>
            <a:r>
              <a:rPr lang="fr-CH" sz="3200" dirty="0"/>
              <a:t>= Cm </a:t>
            </a:r>
          </a:p>
          <a:p>
            <a:pPr>
              <a:buFontTx/>
              <a:buNone/>
            </a:pPr>
            <a:endParaRPr lang="fr-CH" sz="3200" dirty="0" smtClean="0"/>
          </a:p>
          <a:p>
            <a:pPr>
              <a:buFontTx/>
              <a:buNone/>
            </a:pPr>
            <a:r>
              <a:rPr lang="fr-CH" sz="3200" dirty="0" smtClean="0"/>
              <a:t>Ainsi</a:t>
            </a:r>
            <a:r>
              <a:rPr lang="fr-CH" sz="3200" dirty="0" smtClean="0"/>
              <a:t>, à chaque prix ou coût marginal correspond une quantité offerte.</a:t>
            </a:r>
          </a:p>
          <a:p>
            <a:pPr>
              <a:buFontTx/>
              <a:buNone/>
            </a:pPr>
            <a:r>
              <a:rPr lang="fr-CH" sz="3200" dirty="0" smtClean="0"/>
              <a:t>Donc la courbe d’offre de l’entreprise correspond à la courbe du coût marginal au dessus du seuil de fermeture</a:t>
            </a:r>
            <a:endParaRPr lang="fr-CH" sz="3200" dirty="0"/>
          </a:p>
          <a:p>
            <a:pPr>
              <a:buFontTx/>
              <a:buNone/>
            </a:pPr>
            <a:r>
              <a:rPr lang="fr-CH" dirty="0"/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73112" y="427037"/>
            <a:ext cx="8569325" cy="1620837"/>
          </a:xfrm>
        </p:spPr>
        <p:txBody>
          <a:bodyPr/>
          <a:lstStyle/>
          <a:p>
            <a:r>
              <a:rPr lang="fr-FR" dirty="0" smtClean="0"/>
              <a:t>L’offre à long terme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96912" y="2103437"/>
            <a:ext cx="8915400" cy="1931988"/>
          </a:xfrm>
        </p:spPr>
        <p:txBody>
          <a:bodyPr>
            <a:noAutofit/>
          </a:bodyPr>
          <a:lstStyle/>
          <a:p>
            <a:pPr algn="l"/>
            <a:r>
              <a:rPr lang="fr-FR" sz="3200" dirty="0" smtClean="0"/>
              <a:t>Absence de barrière à l’entrée : Plusieurs entreprises sont attirées par cette opportunité.</a:t>
            </a:r>
          </a:p>
          <a:p>
            <a:pPr algn="l"/>
            <a:r>
              <a:rPr lang="fr-FR" sz="3200" dirty="0" smtClean="0"/>
              <a:t>Augmentation de la taille des entreprises pour réduire le coût et percevoir plus de profit.</a:t>
            </a:r>
            <a:endParaRPr lang="en-US" sz="3200" dirty="0"/>
          </a:p>
        </p:txBody>
      </p:sp>
      <p:sp>
        <p:nvSpPr>
          <p:cNvPr id="4" name="Sous-titre 2"/>
          <p:cNvSpPr txBox="1">
            <a:spLocks/>
          </p:cNvSpPr>
          <p:nvPr/>
        </p:nvSpPr>
        <p:spPr bwMode="auto">
          <a:xfrm>
            <a:off x="544512" y="4313237"/>
            <a:ext cx="8915400" cy="1931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2808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49263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lang="fr-FR" sz="3200" kern="0" dirty="0" smtClean="0">
                <a:solidFill>
                  <a:srgbClr val="000000"/>
                </a:solidFill>
                <a:latin typeface="+mn-lt"/>
                <a:ea typeface="+mn-ea"/>
              </a:rPr>
              <a:t>Dans cette perspective, l’offre du produit tend à augmenter. Et donc, nous assistons à une baisse du prix.</a:t>
            </a:r>
          </a:p>
          <a:p>
            <a:pPr marL="0" marR="0" lvl="0" indent="0" algn="l" defTabSz="449263" rtl="0" eaLnBrk="0" fontAlgn="base" latinLnBrk="0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lang="fr-FR" sz="3200" kern="0" dirty="0" smtClean="0">
                <a:solidFill>
                  <a:srgbClr val="000000"/>
                </a:solidFill>
                <a:latin typeface="+mn-lt"/>
                <a:ea typeface="+mn-ea"/>
              </a:rPr>
              <a:t>De nouveaux concurrents arrivent jusqu’à ce que les profits disparaissent. P = Min CM 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503238" y="1238250"/>
            <a:ext cx="9070975" cy="4899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28080" rIns="0" bIns="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0000"/>
                </a:solidFill>
              </a:rPr>
              <a:t>Merci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</TotalTime>
  <Words>271</Words>
  <Application>Microsoft Office PowerPoint</Application>
  <PresentationFormat>Personnalisé</PresentationFormat>
  <Paragraphs>65</Paragraphs>
  <Slides>10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MS Gothic</vt:lpstr>
      <vt:lpstr>Arial</vt:lpstr>
      <vt:lpstr>Calibri</vt:lpstr>
      <vt:lpstr>Calibri Light</vt:lpstr>
      <vt:lpstr>Symbol</vt:lpstr>
      <vt:lpstr>Times New Roman</vt:lpstr>
      <vt:lpstr>Thème Office</vt:lpstr>
      <vt:lpstr>Présentation PowerPoint</vt:lpstr>
      <vt:lpstr>LES HYPOTHESES DE BASE</vt:lpstr>
      <vt:lpstr> Implications de ces hypothèses: </vt:lpstr>
      <vt:lpstr>Présentation PowerPoint</vt:lpstr>
      <vt:lpstr>SEUIL DE RENTABILITE</vt:lpstr>
      <vt:lpstr>Seuil de fermeture</vt:lpstr>
      <vt:lpstr>Présentation PowerPoint</vt:lpstr>
      <vt:lpstr>L’offre à court terme d’une entreprise dans le cadre d’une concurrence.</vt:lpstr>
      <vt:lpstr>L’offre à long terme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parité de pouvoir d'achat  Kim Geraghty Julien Levesque</dc:title>
  <dc:creator>Julien</dc:creator>
  <cp:lastModifiedBy>Rindra</cp:lastModifiedBy>
  <cp:revision>103</cp:revision>
  <cp:lastPrinted>1601-01-01T00:00:00Z</cp:lastPrinted>
  <dcterms:created xsi:type="dcterms:W3CDTF">2009-03-25T16:53:50Z</dcterms:created>
  <dcterms:modified xsi:type="dcterms:W3CDTF">2015-01-04T15:35:39Z</dcterms:modified>
</cp:coreProperties>
</file>